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6" r:id="rId2"/>
    <p:sldId id="257" r:id="rId3"/>
    <p:sldId id="271" r:id="rId4"/>
    <p:sldId id="258" r:id="rId5"/>
    <p:sldId id="272" r:id="rId6"/>
    <p:sldId id="273" r:id="rId7"/>
    <p:sldId id="274" r:id="rId8"/>
    <p:sldId id="275" r:id="rId9"/>
    <p:sldId id="276" r:id="rId10"/>
    <p:sldId id="277" r:id="rId11"/>
    <p:sldId id="278" r:id="rId12"/>
    <p:sldId id="279" r:id="rId13"/>
    <p:sldId id="28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B5A549-F39F-481B-9966-B38B9483FDB6}" type="datetimeFigureOut">
              <a:rPr lang="en-IN" smtClean="0"/>
              <a:t>03-05-2025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529925-FF87-4A9C-B7B6-CA91239CEF0C}" type="slidenum">
              <a:rPr lang="en-IN" smtClean="0"/>
              <a:t>‹#›</a:t>
            </a:fld>
            <a:endParaRPr lang="en-IN"/>
          </a:p>
        </p:txBody>
      </p:sp>
    </p:spTree>
    <p:extLst>
      <p:ext uri="{BB962C8B-B14F-4D97-AF65-F5344CB8AC3E}">
        <p14:creationId xmlns:p14="http://schemas.microsoft.com/office/powerpoint/2010/main" val="3219305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529925-FF87-4A9C-B7B6-CA91239CEF0C}" type="slidenum">
              <a:rPr lang="en-IN" smtClean="0"/>
              <a:t>5</a:t>
            </a:fld>
            <a:endParaRPr lang="en-IN"/>
          </a:p>
        </p:txBody>
      </p:sp>
    </p:spTree>
    <p:extLst>
      <p:ext uri="{BB962C8B-B14F-4D97-AF65-F5344CB8AC3E}">
        <p14:creationId xmlns:p14="http://schemas.microsoft.com/office/powerpoint/2010/main" val="2273014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5/3/2025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DF165-3783-D176-77AF-42097CB24621}"/>
              </a:ext>
            </a:extLst>
          </p:cNvPr>
          <p:cNvSpPr>
            <a:spLocks noGrp="1"/>
          </p:cNvSpPr>
          <p:nvPr>
            <p:ph type="ctrTitle"/>
          </p:nvPr>
        </p:nvSpPr>
        <p:spPr>
          <a:xfrm>
            <a:off x="1091381" y="1274885"/>
            <a:ext cx="10068744" cy="1753449"/>
          </a:xfrm>
        </p:spPr>
        <p:txBody>
          <a:bodyPr>
            <a:noAutofit/>
          </a:bodyPr>
          <a:lstStyle/>
          <a:p>
            <a:pPr algn="l"/>
            <a:r>
              <a:rPr lang="en-US" sz="3600" b="1" i="0" dirty="0">
                <a:solidFill>
                  <a:srgbClr val="F1F1F1"/>
                </a:solidFill>
                <a:effectLst/>
                <a:latin typeface="Roboto" panose="02000000000000000000" pitchFamily="2" charset="0"/>
              </a:rPr>
              <a:t>Build an End-to-End AWS Web Application -Power OF MATH using </a:t>
            </a:r>
            <a:r>
              <a:rPr lang="en-US" sz="3600" b="1" i="0" dirty="0" err="1">
                <a:solidFill>
                  <a:srgbClr val="F1F1F1"/>
                </a:solidFill>
                <a:effectLst/>
                <a:latin typeface="Roboto" panose="02000000000000000000" pitchFamily="2" charset="0"/>
              </a:rPr>
              <a:t>aws</a:t>
            </a:r>
            <a:r>
              <a:rPr lang="en-US" sz="3600" b="1" i="0" dirty="0">
                <a:solidFill>
                  <a:srgbClr val="F1F1F1"/>
                </a:solidFill>
                <a:effectLst/>
                <a:latin typeface="Roboto" panose="02000000000000000000" pitchFamily="2" charset="0"/>
              </a:rPr>
              <a:t> services </a:t>
            </a:r>
          </a:p>
        </p:txBody>
      </p:sp>
      <p:sp>
        <p:nvSpPr>
          <p:cNvPr id="4" name="TextBox 3">
            <a:extLst>
              <a:ext uri="{FF2B5EF4-FFF2-40B4-BE49-F238E27FC236}">
                <a16:creationId xmlns:a16="http://schemas.microsoft.com/office/drawing/2014/main" id="{95D4DBFD-3984-0F91-5664-FB47BFC4C123}"/>
              </a:ext>
            </a:extLst>
          </p:cNvPr>
          <p:cNvSpPr txBox="1"/>
          <p:nvPr/>
        </p:nvSpPr>
        <p:spPr>
          <a:xfrm>
            <a:off x="8291146" y="3645000"/>
            <a:ext cx="3527228" cy="523220"/>
          </a:xfrm>
          <a:prstGeom prst="rect">
            <a:avLst/>
          </a:prstGeom>
          <a:noFill/>
        </p:spPr>
        <p:txBody>
          <a:bodyPr wrap="square" rtlCol="0">
            <a:spAutoFit/>
          </a:bodyPr>
          <a:lstStyle/>
          <a:p>
            <a:r>
              <a:rPr lang="en-US" sz="2800" b="1" dirty="0"/>
              <a:t>MAJOR</a:t>
            </a:r>
            <a:r>
              <a:rPr lang="en-US" sz="2000" b="1" dirty="0"/>
              <a:t> </a:t>
            </a:r>
            <a:r>
              <a:rPr lang="en-US" sz="2800" b="1" dirty="0"/>
              <a:t>Project</a:t>
            </a:r>
            <a:r>
              <a:rPr lang="en-US" sz="2000" b="1" dirty="0"/>
              <a:t> -</a:t>
            </a:r>
            <a:r>
              <a:rPr lang="en-US" sz="2800" b="1" dirty="0"/>
              <a:t>AWS</a:t>
            </a:r>
            <a:endParaRPr lang="en-IN" sz="2800" b="1" dirty="0"/>
          </a:p>
        </p:txBody>
      </p:sp>
    </p:spTree>
    <p:extLst>
      <p:ext uri="{BB962C8B-B14F-4D97-AF65-F5344CB8AC3E}">
        <p14:creationId xmlns:p14="http://schemas.microsoft.com/office/powerpoint/2010/main" val="600249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FCA7BA-E629-F6A6-1A9F-6AD4FBC127FC}"/>
              </a:ext>
            </a:extLst>
          </p:cNvPr>
          <p:cNvSpPr>
            <a:spLocks noGrp="1"/>
          </p:cNvSpPr>
          <p:nvPr>
            <p:ph idx="1"/>
          </p:nvPr>
        </p:nvSpPr>
        <p:spPr>
          <a:xfrm>
            <a:off x="685801" y="1565030"/>
            <a:ext cx="10131425" cy="5081575"/>
          </a:xfrm>
        </p:spPr>
        <p:txBody>
          <a:bodyPr>
            <a:normAutofit/>
          </a:bodyPr>
          <a:lstStyle/>
          <a:p>
            <a:r>
              <a:rPr lang="en-US" sz="2400" b="0" i="0" dirty="0">
                <a:effectLst/>
                <a:latin typeface="Times New Roman" panose="02020603050405020304" pitchFamily="18" charset="0"/>
                <a:cs typeface="Times New Roman" panose="02020603050405020304" pitchFamily="18" charset="0"/>
              </a:rPr>
              <a:t>In today’s digital landscape, building web applications has become a necessity for businesses and individuals alike. AWS (Amazon Web Services) offers a suite of powerful cloud services that can simplify and streamline the development process. In this blog, we will explore how to build a basic web application using AWS services such as AWS Amplify, Amazon API Gateway, AWS Lambda, Amazon DynamoDB, and AWS Identity and Access Management (IAM). Let’s dive in and discover how these services can work together to create a scalable web application. In this project, you will create a simple web application. You will first build a static web app that renders “The Power of Math!.” Then you will learn how to add functionality to the web app so that when you input two numbers i.e. base and exponent it displays result on the custom input you provide.</a:t>
            </a:r>
            <a:endParaRPr lang="en-IN"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C913778-61BC-F48D-2CFA-341CD7F5D329}"/>
              </a:ext>
            </a:extLst>
          </p:cNvPr>
          <p:cNvSpPr txBox="1"/>
          <p:nvPr/>
        </p:nvSpPr>
        <p:spPr>
          <a:xfrm>
            <a:off x="1257300" y="474785"/>
            <a:ext cx="8168055" cy="1200329"/>
          </a:xfrm>
          <a:prstGeom prst="rect">
            <a:avLst/>
          </a:prstGeom>
          <a:noFill/>
        </p:spPr>
        <p:txBody>
          <a:bodyPr wrap="square" rtlCol="0">
            <a:spAutoFit/>
          </a:bodyPr>
          <a:lstStyle/>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Introduction:</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9195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4FF81-36A3-4F01-EA50-7D7ACC862EE1}"/>
              </a:ext>
            </a:extLst>
          </p:cNvPr>
          <p:cNvSpPr>
            <a:spLocks noGrp="1"/>
          </p:cNvSpPr>
          <p:nvPr>
            <p:ph type="title"/>
          </p:nvPr>
        </p:nvSpPr>
        <p:spPr>
          <a:xfrm>
            <a:off x="685801" y="609600"/>
            <a:ext cx="10131425" cy="1069731"/>
          </a:xfrm>
        </p:spPr>
        <p:txBody>
          <a:bodyPr>
            <a:normAutofit fontScale="90000"/>
          </a:bodyPr>
          <a:lstStyle/>
          <a:p>
            <a:r>
              <a:rPr lang="en-IN" b="1" i="0" dirty="0">
                <a:effectLst/>
                <a:latin typeface="Times New Roman" panose="02020603050405020304" pitchFamily="18" charset="0"/>
                <a:cs typeface="Times New Roman" panose="02020603050405020304" pitchFamily="18" charset="0"/>
              </a:rPr>
              <a:t>Things we will accomplish:</a:t>
            </a:r>
            <a:br>
              <a:rPr lang="en-IN" b="1" i="0" dirty="0">
                <a:solidFill>
                  <a:srgbClr val="242424"/>
                </a:solidFill>
                <a:effectLst/>
                <a:latin typeface="sohne"/>
              </a:rPr>
            </a:br>
            <a:endParaRPr lang="en-IN" dirty="0"/>
          </a:p>
        </p:txBody>
      </p:sp>
      <p:sp>
        <p:nvSpPr>
          <p:cNvPr id="4" name="Content Placeholder 3">
            <a:extLst>
              <a:ext uri="{FF2B5EF4-FFF2-40B4-BE49-F238E27FC236}">
                <a16:creationId xmlns:a16="http://schemas.microsoft.com/office/drawing/2014/main" id="{5C11C58F-9861-2A66-66D8-20B4D1854578}"/>
              </a:ext>
            </a:extLst>
          </p:cNvPr>
          <p:cNvSpPr>
            <a:spLocks noGrp="1"/>
          </p:cNvSpPr>
          <p:nvPr>
            <p:ph sz="half" idx="2"/>
          </p:nvPr>
        </p:nvSpPr>
        <p:spPr>
          <a:xfrm>
            <a:off x="545123" y="2066192"/>
            <a:ext cx="5137601" cy="4299439"/>
          </a:xfrm>
        </p:spPr>
        <p:txBody>
          <a:bodyPr/>
          <a:lstStyle/>
          <a:p>
            <a:pPr algn="l">
              <a:lnSpc>
                <a:spcPts val="2400"/>
              </a:lnSpc>
              <a:buNone/>
            </a:pPr>
            <a:r>
              <a:rPr lang="en-US" sz="2400" b="0" i="0" dirty="0">
                <a:effectLst/>
                <a:latin typeface="Times New Roman" panose="02020603050405020304" pitchFamily="18" charset="0"/>
                <a:cs typeface="Times New Roman" panose="02020603050405020304" pitchFamily="18" charset="0"/>
              </a:rPr>
              <a:t>This Project we will go through the steps to create the sample web application discussed above. we will:</a:t>
            </a:r>
          </a:p>
          <a:p>
            <a:pPr algn="l">
              <a:lnSpc>
                <a:spcPts val="24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Create a web app</a:t>
            </a:r>
          </a:p>
          <a:p>
            <a:pPr algn="l">
              <a:lnSpc>
                <a:spcPts val="24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Connect the web app to a serverless backend</a:t>
            </a:r>
          </a:p>
          <a:p>
            <a:pPr algn="l">
              <a:lnSpc>
                <a:spcPts val="24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Add interactivity to your web app with an API and a database</a:t>
            </a:r>
          </a:p>
          <a:p>
            <a:endParaRPr lang="en-IN" dirty="0"/>
          </a:p>
        </p:txBody>
      </p:sp>
      <p:pic>
        <p:nvPicPr>
          <p:cNvPr id="2050" name="Picture 2">
            <a:extLst>
              <a:ext uri="{FF2B5EF4-FFF2-40B4-BE49-F238E27FC236}">
                <a16:creationId xmlns:a16="http://schemas.microsoft.com/office/drawing/2014/main" id="{126EEB0B-C9BD-899C-5CC2-B55C4EC4FCC9}"/>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5819774" y="2066192"/>
            <a:ext cx="6076217" cy="4299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3389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9E0A1-5B01-97A9-2C41-AD067F3030DA}"/>
              </a:ext>
            </a:extLst>
          </p:cNvPr>
          <p:cNvSpPr>
            <a:spLocks noGrp="1"/>
          </p:cNvSpPr>
          <p:nvPr>
            <p:ph type="title"/>
          </p:nvPr>
        </p:nvSpPr>
        <p:spPr>
          <a:xfrm>
            <a:off x="800100" y="1301262"/>
            <a:ext cx="10300518" cy="149470"/>
          </a:xfrm>
        </p:spPr>
        <p:txBody>
          <a:bodyPr>
            <a:normAutofit fontScale="90000"/>
          </a:bodyPr>
          <a:lstStyle/>
          <a:p>
            <a:r>
              <a:rPr lang="en-IN" b="1" i="0" dirty="0">
                <a:effectLst/>
                <a:latin typeface="Times New Roman" panose="02020603050405020304" pitchFamily="18" charset="0"/>
                <a:cs typeface="Times New Roman" panose="02020603050405020304" pitchFamily="18" charset="0"/>
              </a:rPr>
              <a:t>Application architecture:</a:t>
            </a:r>
            <a:br>
              <a:rPr lang="en-IN" sz="1200" b="1" i="0" dirty="0">
                <a:solidFill>
                  <a:srgbClr val="242424"/>
                </a:solidFill>
                <a:effectLst/>
                <a:latin typeface="sohne"/>
              </a:rPr>
            </a:br>
            <a:br>
              <a:rPr lang="en-US" sz="2400" b="0" i="0" dirty="0">
                <a:effectLst/>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99D0239-D20B-E2F0-7D40-2A9A41242916}"/>
              </a:ext>
            </a:extLst>
          </p:cNvPr>
          <p:cNvSpPr txBox="1"/>
          <p:nvPr/>
        </p:nvSpPr>
        <p:spPr>
          <a:xfrm>
            <a:off x="597877" y="1565031"/>
            <a:ext cx="10040815" cy="1569660"/>
          </a:xfrm>
          <a:prstGeom prst="rect">
            <a:avLst/>
          </a:prstGeom>
          <a:noFill/>
        </p:spPr>
        <p:txBody>
          <a:bodyPr wrap="square" rtlCol="0">
            <a:spAutoFit/>
          </a:bodyPr>
          <a:lstStyle/>
          <a:p>
            <a:r>
              <a:rPr lang="en-US" sz="2400" b="0" i="0" dirty="0">
                <a:effectLst/>
                <a:latin typeface="Times New Roman" panose="02020603050405020304" pitchFamily="18" charset="0"/>
                <a:cs typeface="Times New Roman" panose="02020603050405020304" pitchFamily="18" charset="0"/>
              </a:rPr>
              <a:t>The diagram below provides a visual representation of the services used in this project and how they are connected. This application uses AWS Amplify, Amazon API Gateway, AWS Lambda, Amazon DynamoDB, and AWS Identity and Access Management (IAM).</a:t>
            </a:r>
            <a:endParaRPr lang="en-IN" sz="2400"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8BBAFE08-8902-9AA7-6186-DADB1F57C0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5723" y="3248989"/>
            <a:ext cx="7798777" cy="3239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570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764CA-B3C5-9748-1295-0394BF3D4E82}"/>
              </a:ext>
            </a:extLst>
          </p:cNvPr>
          <p:cNvSpPr>
            <a:spLocks noGrp="1"/>
          </p:cNvSpPr>
          <p:nvPr>
            <p:ph type="title"/>
          </p:nvPr>
        </p:nvSpPr>
        <p:spPr>
          <a:xfrm>
            <a:off x="685801" y="302004"/>
            <a:ext cx="10131425" cy="1451295"/>
          </a:xfrm>
        </p:spPr>
        <p:txBody>
          <a:bodyPr>
            <a:normAutofit fontScale="90000"/>
          </a:bodyPr>
          <a:lstStyle/>
          <a:p>
            <a:r>
              <a:rPr lang="en-US" sz="3100" b="1" i="0" dirty="0">
                <a:effectLst/>
                <a:latin typeface="Times New Roman" panose="02020603050405020304" pitchFamily="18" charset="0"/>
                <a:cs typeface="Times New Roman" panose="02020603050405020304" pitchFamily="18" charset="0"/>
              </a:rPr>
              <a:t>step 1 : Setting up AWS Amplify to host and deploy a static website.</a:t>
            </a:r>
            <a:br>
              <a:rPr lang="en-US" b="1" i="0" dirty="0">
                <a:solidFill>
                  <a:srgbClr val="242424"/>
                </a:solidFill>
                <a:effectLst/>
                <a:latin typeface="sohne"/>
              </a:rPr>
            </a:br>
            <a:endParaRPr lang="en-IN" dirty="0"/>
          </a:p>
        </p:txBody>
      </p:sp>
      <p:pic>
        <p:nvPicPr>
          <p:cNvPr id="10" name="Content Placeholder 9">
            <a:extLst>
              <a:ext uri="{FF2B5EF4-FFF2-40B4-BE49-F238E27FC236}">
                <a16:creationId xmlns:a16="http://schemas.microsoft.com/office/drawing/2014/main" id="{40D98FDF-96C1-408E-705D-EB85B729DD51}"/>
              </a:ext>
            </a:extLst>
          </p:cNvPr>
          <p:cNvPicPr>
            <a:picLocks noGrp="1" noChangeAspect="1"/>
          </p:cNvPicPr>
          <p:nvPr>
            <p:ph sz="half" idx="1"/>
          </p:nvPr>
        </p:nvPicPr>
        <p:blipFill>
          <a:blip r:embed="rId3"/>
          <a:stretch>
            <a:fillRect/>
          </a:stretch>
        </p:blipFill>
        <p:spPr>
          <a:xfrm>
            <a:off x="685801" y="1258306"/>
            <a:ext cx="7512488" cy="3129136"/>
          </a:xfrm>
        </p:spPr>
      </p:pic>
      <p:sp>
        <p:nvSpPr>
          <p:cNvPr id="12" name="TextBox 11">
            <a:extLst>
              <a:ext uri="{FF2B5EF4-FFF2-40B4-BE49-F238E27FC236}">
                <a16:creationId xmlns:a16="http://schemas.microsoft.com/office/drawing/2014/main" id="{08B5F91D-A183-9A2A-EEE0-BFFD2DE7CE93}"/>
              </a:ext>
            </a:extLst>
          </p:cNvPr>
          <p:cNvSpPr txBox="1"/>
          <p:nvPr/>
        </p:nvSpPr>
        <p:spPr>
          <a:xfrm>
            <a:off x="595619" y="4689448"/>
            <a:ext cx="10444294" cy="3877985"/>
          </a:xfrm>
          <a:prstGeom prst="rect">
            <a:avLst/>
          </a:prstGeom>
          <a:noFill/>
        </p:spPr>
        <p:txBody>
          <a:bodyPr wrap="square" rtlCol="0">
            <a:spAutoFit/>
          </a:bodyPr>
          <a:lstStyle/>
          <a:p>
            <a:pPr marL="285750" indent="-285750">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Deploying and Hosting with AWS Amplify AWS Amplify is a service that simplifies the deployment of web applications. We’ll use it to host our HTML page, making our application accessible on the internet</a:t>
            </a:r>
            <a:r>
              <a:rPr lang="en-US" b="0" i="0" dirty="0">
                <a:solidFill>
                  <a:srgbClr val="242424"/>
                </a:solidFill>
                <a:effectLst/>
                <a:latin typeface="source-serif-pro"/>
              </a:rPr>
              <a:t>..</a:t>
            </a:r>
          </a:p>
          <a:p>
            <a:pPr algn="l">
              <a:lnSpc>
                <a:spcPts val="24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 Create zip file for that file “index.html”, so you’ll have index.zip</a:t>
            </a:r>
          </a:p>
          <a:p>
            <a:pPr algn="l">
              <a:lnSpc>
                <a:spcPts val="24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 You will be to this page, fill the name and  name then upload the zip file “index.zip”</a:t>
            </a:r>
          </a:p>
          <a:p>
            <a:pPr algn="l">
              <a:lnSpc>
                <a:spcPts val="24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Your app will deployed in a moment, you can check it by clicking on the link https://dev…</a:t>
            </a:r>
          </a:p>
          <a:p>
            <a:pPr algn="l">
              <a:lnSpc>
                <a:spcPts val="2400"/>
              </a:lnSpc>
              <a:buNone/>
            </a:pPr>
            <a:r>
              <a:rPr lang="en-US" b="0" i="0" dirty="0">
                <a:effectLst/>
                <a:latin typeface="Times New Roman" panose="02020603050405020304" pitchFamily="18" charset="0"/>
                <a:cs typeface="Times New Roman" panose="02020603050405020304" pitchFamily="18" charset="0"/>
              </a:rPr>
              <a:t>Now, we just finished the first step and we got this architecture.</a:t>
            </a:r>
          </a:p>
          <a:p>
            <a:pPr>
              <a:buNone/>
            </a:pPr>
            <a:br>
              <a:rPr lang="en-US" dirty="0">
                <a:effectLst/>
              </a:rPr>
            </a:br>
            <a:endParaRPr lang="en-US" b="0" i="0" dirty="0">
              <a:effectLst/>
              <a:latin typeface="Times New Roman" panose="02020603050405020304" pitchFamily="18" charset="0"/>
              <a:cs typeface="Times New Roman" panose="02020603050405020304" pitchFamily="18" charset="0"/>
            </a:endParaRPr>
          </a:p>
          <a:p>
            <a:pPr algn="l">
              <a:lnSpc>
                <a:spcPts val="2400"/>
              </a:lnSpc>
              <a:buFont typeface="Arial" panose="020B0604020202020204" pitchFamily="34" charset="0"/>
              <a:buChar char="•"/>
            </a:pPr>
            <a:endParaRPr lang="en-US" b="0" i="0" dirty="0">
              <a:effectLst/>
              <a:latin typeface="Times New Roman" panose="02020603050405020304" pitchFamily="18" charset="0"/>
              <a:cs typeface="Times New Roman" panose="02020603050405020304" pitchFamily="18" charset="0"/>
            </a:endParaRPr>
          </a:p>
          <a:p>
            <a:pPr algn="l">
              <a:lnSpc>
                <a:spcPts val="2400"/>
              </a:lnSpc>
              <a:buFont typeface="Arial" panose="020B0604020202020204" pitchFamily="34" charset="0"/>
              <a:buChar char="•"/>
            </a:pPr>
            <a:endParaRPr lang="en-US" b="0" i="0" dirty="0">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0" i="0" dirty="0">
              <a:solidFill>
                <a:srgbClr val="242424"/>
              </a:solidFill>
              <a:effectLst/>
              <a:latin typeface="source-serif-pro"/>
            </a:endParaRPr>
          </a:p>
          <a:p>
            <a:pPr marL="285750" indent="-285750">
              <a:buFont typeface="Arial" panose="020B0604020202020204" pitchFamily="34" charset="0"/>
              <a:buChar char="•"/>
            </a:pPr>
            <a:endParaRPr lang="en-US" b="0" i="0" dirty="0">
              <a:solidFill>
                <a:srgbClr val="242424"/>
              </a:solidFill>
              <a:effectLst/>
              <a:latin typeface="source-serif-pro"/>
            </a:endParaRPr>
          </a:p>
          <a:p>
            <a:endParaRPr lang="en-IN" dirty="0"/>
          </a:p>
        </p:txBody>
      </p:sp>
    </p:spTree>
    <p:extLst>
      <p:ext uri="{BB962C8B-B14F-4D97-AF65-F5344CB8AC3E}">
        <p14:creationId xmlns:p14="http://schemas.microsoft.com/office/powerpoint/2010/main" val="183531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A3ED3-D1B1-9C8F-7B1A-EBF6A9DD5BA2}"/>
              </a:ext>
            </a:extLst>
          </p:cNvPr>
          <p:cNvSpPr>
            <a:spLocks noGrp="1"/>
          </p:cNvSpPr>
          <p:nvPr>
            <p:ph type="title"/>
          </p:nvPr>
        </p:nvSpPr>
        <p:spPr>
          <a:xfrm>
            <a:off x="685801" y="1182847"/>
            <a:ext cx="10131425" cy="117447"/>
          </a:xfrm>
        </p:spPr>
        <p:txBody>
          <a:bodyPr>
            <a:normAutofit fontScale="90000"/>
          </a:bodyPr>
          <a:lstStyle/>
          <a:p>
            <a:r>
              <a:rPr lang="en-US" b="1" i="0" dirty="0">
                <a:effectLst/>
                <a:latin typeface="Times New Roman" panose="02020603050405020304" pitchFamily="18" charset="0"/>
                <a:cs typeface="Times New Roman" panose="02020603050405020304" pitchFamily="18" charset="0"/>
              </a:rPr>
              <a:t>step 2 : Creating and configuring Lambda function</a:t>
            </a:r>
            <a:br>
              <a:rPr lang="en-US" b="1" i="0" dirty="0">
                <a:solidFill>
                  <a:srgbClr val="242424"/>
                </a:solidFill>
                <a:effectLst/>
                <a:latin typeface="sohne"/>
              </a:rPr>
            </a:br>
            <a:endParaRPr lang="en-IN" dirty="0"/>
          </a:p>
        </p:txBody>
      </p:sp>
      <p:pic>
        <p:nvPicPr>
          <p:cNvPr id="5" name="Content Placeholder 4">
            <a:extLst>
              <a:ext uri="{FF2B5EF4-FFF2-40B4-BE49-F238E27FC236}">
                <a16:creationId xmlns:a16="http://schemas.microsoft.com/office/drawing/2014/main" id="{C29FB3DE-540A-1DD1-660C-0886FF0E5B84}"/>
              </a:ext>
            </a:extLst>
          </p:cNvPr>
          <p:cNvPicPr>
            <a:picLocks noGrp="1" noChangeAspect="1"/>
          </p:cNvPicPr>
          <p:nvPr>
            <p:ph idx="1"/>
          </p:nvPr>
        </p:nvPicPr>
        <p:blipFill>
          <a:blip r:embed="rId2"/>
          <a:stretch>
            <a:fillRect/>
          </a:stretch>
        </p:blipFill>
        <p:spPr>
          <a:xfrm>
            <a:off x="685801" y="1501775"/>
            <a:ext cx="9792049" cy="3380617"/>
          </a:xfrm>
        </p:spPr>
      </p:pic>
      <p:sp>
        <p:nvSpPr>
          <p:cNvPr id="7" name="TextBox 6">
            <a:extLst>
              <a:ext uri="{FF2B5EF4-FFF2-40B4-BE49-F238E27FC236}">
                <a16:creationId xmlns:a16="http://schemas.microsoft.com/office/drawing/2014/main" id="{AA6DF660-3C36-8929-81C6-95C5247B71B9}"/>
              </a:ext>
            </a:extLst>
          </p:cNvPr>
          <p:cNvSpPr txBox="1"/>
          <p:nvPr/>
        </p:nvSpPr>
        <p:spPr>
          <a:xfrm>
            <a:off x="676712" y="4999838"/>
            <a:ext cx="10838576" cy="2523768"/>
          </a:xfrm>
          <a:prstGeom prst="rect">
            <a:avLst/>
          </a:prstGeom>
          <a:noFill/>
        </p:spPr>
        <p:txBody>
          <a:bodyPr wrap="square" rtlCol="0">
            <a:spAutoFit/>
          </a:bodyPr>
          <a:lstStyle/>
          <a:p>
            <a:pPr algn="l">
              <a:lnSpc>
                <a:spcPts val="2400"/>
              </a:lnSpc>
              <a:buFont typeface="+mj-lt"/>
              <a:buAutoNum type="arabicPeriod"/>
            </a:pPr>
            <a:r>
              <a:rPr lang="en-US" dirty="0">
                <a:latin typeface="Times New Roman" panose="02020603050405020304" pitchFamily="18" charset="0"/>
                <a:cs typeface="Times New Roman" panose="02020603050405020304" pitchFamily="18" charset="0"/>
              </a:rPr>
              <a:t>Give</a:t>
            </a:r>
            <a:r>
              <a:rPr lang="en-US" b="0" i="0" dirty="0">
                <a:effectLst/>
                <a:latin typeface="Times New Roman" panose="02020603050405020304" pitchFamily="18" charset="0"/>
                <a:cs typeface="Times New Roman" panose="02020603050405020304" pitchFamily="18" charset="0"/>
              </a:rPr>
              <a:t> Function name, enter </a:t>
            </a:r>
            <a:r>
              <a:rPr lang="en-US" b="0" i="1" dirty="0" err="1">
                <a:effectLst/>
                <a:latin typeface="Times New Roman" panose="02020603050405020304" pitchFamily="18" charset="0"/>
                <a:cs typeface="Times New Roman" panose="02020603050405020304" pitchFamily="18" charset="0"/>
              </a:rPr>
              <a:t>PowerofMathfunction</a:t>
            </a:r>
            <a:r>
              <a:rPr lang="en-US" b="0" i="0" dirty="0">
                <a:effectLst/>
                <a:latin typeface="Times New Roman" panose="02020603050405020304" pitchFamily="18" charset="0"/>
                <a:cs typeface="Times New Roman" panose="02020603050405020304" pitchFamily="18" charset="0"/>
              </a:rPr>
              <a:t>.</a:t>
            </a:r>
          </a:p>
          <a:p>
            <a:pPr algn="l">
              <a:lnSpc>
                <a:spcPts val="2400"/>
              </a:lnSpc>
              <a:buFont typeface="+mj-lt"/>
              <a:buAutoNum type="arabicPeriod"/>
            </a:pPr>
            <a:r>
              <a:rPr lang="en-US" b="0" i="0" dirty="0">
                <a:effectLst/>
                <a:latin typeface="Times New Roman" panose="02020603050405020304" pitchFamily="18" charset="0"/>
                <a:cs typeface="Times New Roman" panose="02020603050405020304" pitchFamily="18" charset="0"/>
              </a:rPr>
              <a:t>Select Python 3.9 from the runtime dropdown and leave the rest of the defaults unchanged</a:t>
            </a:r>
          </a:p>
          <a:p>
            <a:pPr algn="l">
              <a:lnSpc>
                <a:spcPts val="2400"/>
              </a:lnSpc>
              <a:buNone/>
            </a:pPr>
            <a:r>
              <a:rPr lang="en-US" b="0" i="0" dirty="0">
                <a:effectLst/>
                <a:latin typeface="Times New Roman" panose="02020603050405020304" pitchFamily="18" charset="0"/>
                <a:cs typeface="Times New Roman" panose="02020603050405020304" pitchFamily="18" charset="0"/>
              </a:rPr>
              <a:t>3. Under Code source, replace the code in lambda_function.py with the above code.</a:t>
            </a:r>
          </a:p>
          <a:p>
            <a:pPr algn="l">
              <a:lnSpc>
                <a:spcPts val="2400"/>
              </a:lnSpc>
              <a:buNone/>
            </a:pPr>
            <a:r>
              <a:rPr lang="en-US" dirty="0">
                <a:latin typeface="Times New Roman" panose="02020603050405020304" pitchFamily="18" charset="0"/>
                <a:cs typeface="Times New Roman" panose="02020603050405020304" pitchFamily="18" charset="0"/>
              </a:rPr>
              <a:t>4.</a:t>
            </a:r>
            <a:r>
              <a:rPr lang="en-US" b="0" i="0" dirty="0">
                <a:effectLst/>
                <a:latin typeface="Times New Roman" panose="02020603050405020304" pitchFamily="18" charset="0"/>
                <a:cs typeface="Times New Roman" panose="02020603050405020304" pitchFamily="18" charset="0"/>
              </a:rPr>
              <a:t> Save by going to the file menu and selecting Save to save the changes.</a:t>
            </a:r>
          </a:p>
          <a:p>
            <a:pPr algn="l">
              <a:lnSpc>
                <a:spcPts val="2400"/>
              </a:lnSpc>
            </a:pPr>
            <a:r>
              <a:rPr lang="en-US" dirty="0">
                <a:latin typeface="Times New Roman" panose="02020603050405020304" pitchFamily="18" charset="0"/>
                <a:cs typeface="Times New Roman" panose="02020603050405020304" pitchFamily="18" charset="0"/>
              </a:rPr>
              <a:t>5.</a:t>
            </a:r>
            <a:r>
              <a:rPr lang="en-US" b="0" i="0" dirty="0">
                <a:effectLst/>
                <a:latin typeface="Times New Roman" panose="02020603050405020304" pitchFamily="18" charset="0"/>
                <a:cs typeface="Times New Roman" panose="02020603050405020304" pitchFamily="18" charset="0"/>
              </a:rPr>
              <a:t> Choose Deploy to deploy the changes.</a:t>
            </a:r>
          </a:p>
          <a:p>
            <a:pPr algn="l">
              <a:lnSpc>
                <a:spcPts val="2400"/>
              </a:lnSpc>
            </a:pPr>
            <a:endParaRPr lang="en-US" b="0" i="0" dirty="0">
              <a:solidFill>
                <a:srgbClr val="242424"/>
              </a:solidFill>
              <a:effectLst/>
              <a:latin typeface="source-serif-pro"/>
            </a:endParaRPr>
          </a:p>
          <a:p>
            <a:pPr algn="l">
              <a:lnSpc>
                <a:spcPts val="2400"/>
              </a:lnSpc>
              <a:buFont typeface="+mj-lt"/>
              <a:buAutoNum type="arabicPeriod"/>
            </a:pPr>
            <a:endParaRPr lang="en-US" b="0" i="0" dirty="0">
              <a:solidFill>
                <a:srgbClr val="242424"/>
              </a:solidFill>
              <a:effectLst/>
              <a:latin typeface="source-serif-pro"/>
            </a:endParaRPr>
          </a:p>
          <a:p>
            <a:endParaRPr lang="en-IN" dirty="0"/>
          </a:p>
        </p:txBody>
      </p:sp>
    </p:spTree>
    <p:extLst>
      <p:ext uri="{BB962C8B-B14F-4D97-AF65-F5344CB8AC3E}">
        <p14:creationId xmlns:p14="http://schemas.microsoft.com/office/powerpoint/2010/main" val="3168891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961C9-EA52-4400-E59F-42523E9778D9}"/>
              </a:ext>
            </a:extLst>
          </p:cNvPr>
          <p:cNvSpPr>
            <a:spLocks noGrp="1"/>
          </p:cNvSpPr>
          <p:nvPr>
            <p:ph type="title"/>
          </p:nvPr>
        </p:nvSpPr>
        <p:spPr>
          <a:xfrm>
            <a:off x="627078" y="223707"/>
            <a:ext cx="10131425" cy="1026253"/>
          </a:xfrm>
        </p:spPr>
        <p:txBody>
          <a:bodyPr>
            <a:normAutofit fontScale="90000"/>
          </a:bodyPr>
          <a:lstStyle/>
          <a:p>
            <a:br>
              <a:rPr lang="en-US" b="1" i="0" dirty="0">
                <a:solidFill>
                  <a:srgbClr val="242424"/>
                </a:solidFill>
                <a:effectLst/>
                <a:latin typeface="sohne"/>
              </a:rPr>
            </a:br>
            <a:r>
              <a:rPr lang="en-US" b="1" i="0" dirty="0">
                <a:effectLst/>
                <a:latin typeface="Times New Roman" panose="02020603050405020304" pitchFamily="18" charset="0"/>
                <a:cs typeface="Times New Roman" panose="02020603050405020304" pitchFamily="18" charset="0"/>
              </a:rPr>
              <a:t>step 3 : Deploying serverless function using Amazon API Gateway</a:t>
            </a:r>
            <a:br>
              <a:rPr lang="en-US" b="1" i="0" dirty="0">
                <a:solidFill>
                  <a:srgbClr val="242424"/>
                </a:solidFill>
                <a:effectLst/>
                <a:latin typeface="sohne"/>
              </a:rPr>
            </a:br>
            <a:endParaRPr lang="en-IN" dirty="0"/>
          </a:p>
        </p:txBody>
      </p:sp>
      <p:pic>
        <p:nvPicPr>
          <p:cNvPr id="5" name="Content Placeholder 4">
            <a:extLst>
              <a:ext uri="{FF2B5EF4-FFF2-40B4-BE49-F238E27FC236}">
                <a16:creationId xmlns:a16="http://schemas.microsoft.com/office/drawing/2014/main" id="{CB06F5ED-F2D8-E34F-A550-D0E2DCCEBE2A}"/>
              </a:ext>
            </a:extLst>
          </p:cNvPr>
          <p:cNvPicPr>
            <a:picLocks noGrp="1" noChangeAspect="1"/>
          </p:cNvPicPr>
          <p:nvPr>
            <p:ph idx="1"/>
          </p:nvPr>
        </p:nvPicPr>
        <p:blipFill>
          <a:blip r:embed="rId2"/>
          <a:stretch>
            <a:fillRect/>
          </a:stretch>
        </p:blipFill>
        <p:spPr>
          <a:xfrm>
            <a:off x="1543575" y="1316476"/>
            <a:ext cx="7994708" cy="3582696"/>
          </a:xfrm>
        </p:spPr>
      </p:pic>
      <p:sp>
        <p:nvSpPr>
          <p:cNvPr id="6" name="TextBox 5">
            <a:extLst>
              <a:ext uri="{FF2B5EF4-FFF2-40B4-BE49-F238E27FC236}">
                <a16:creationId xmlns:a16="http://schemas.microsoft.com/office/drawing/2014/main" id="{F2DB6125-4ADC-4604-D526-D38C1DC38AD8}"/>
              </a:ext>
            </a:extLst>
          </p:cNvPr>
          <p:cNvSpPr txBox="1"/>
          <p:nvPr/>
        </p:nvSpPr>
        <p:spPr>
          <a:xfrm>
            <a:off x="956345" y="5050172"/>
            <a:ext cx="9802158" cy="1323439"/>
          </a:xfrm>
          <a:prstGeom prst="rect">
            <a:avLst/>
          </a:prstGeom>
          <a:noFill/>
        </p:spPr>
        <p:txBody>
          <a:bodyPr wrap="square" rtlCol="0">
            <a:spAutoFit/>
          </a:bodyPr>
          <a:lstStyle/>
          <a:p>
            <a:pPr marL="342900" indent="-342900">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Creating a REST API with API Gateway To make our Lambda function accessible over the internet, we’ll create a RESTful API using AWS API Gateway.</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Create </a:t>
            </a:r>
            <a:r>
              <a:rPr lang="en-IN" sz="2000" dirty="0" err="1">
                <a:latin typeface="Times New Roman" panose="02020603050405020304" pitchFamily="18" charset="0"/>
                <a:cs typeface="Times New Roman" panose="02020603050405020304" pitchFamily="18" charset="0"/>
              </a:rPr>
              <a:t>api</a:t>
            </a:r>
            <a:r>
              <a:rPr lang="en-IN" sz="2000" dirty="0">
                <a:latin typeface="Times New Roman" panose="02020603050405020304" pitchFamily="18" charset="0"/>
                <a:cs typeface="Times New Roman" panose="02020603050405020304" pitchFamily="18" charset="0"/>
              </a:rPr>
              <a:t> name as </a:t>
            </a:r>
            <a:r>
              <a:rPr lang="en-IN" sz="2000" b="0" i="1" dirty="0" err="1">
                <a:effectLst/>
                <a:latin typeface="Times New Roman" panose="02020603050405020304" pitchFamily="18" charset="0"/>
                <a:cs typeface="Times New Roman" panose="02020603050405020304" pitchFamily="18" charset="0"/>
              </a:rPr>
              <a:t>ThePowerofMathAPI</a:t>
            </a:r>
            <a:r>
              <a:rPr lang="en-IN" sz="2000" b="0" i="1" dirty="0">
                <a:effectLst/>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Create method as POST and enable </a:t>
            </a:r>
            <a:r>
              <a:rPr lang="en-IN" sz="2000" b="0" dirty="0">
                <a:effectLst/>
                <a:latin typeface="Times New Roman" panose="02020603050405020304" pitchFamily="18" charset="0"/>
                <a:cs typeface="Times New Roman" panose="02020603050405020304" pitchFamily="18" charset="0"/>
              </a:rPr>
              <a:t>CORS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4935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6E91E-9D60-A796-7D6D-266C6A706A9F}"/>
              </a:ext>
            </a:extLst>
          </p:cNvPr>
          <p:cNvSpPr>
            <a:spLocks noGrp="1"/>
          </p:cNvSpPr>
          <p:nvPr>
            <p:ph type="title"/>
          </p:nvPr>
        </p:nvSpPr>
        <p:spPr>
          <a:xfrm>
            <a:off x="679509" y="260060"/>
            <a:ext cx="10159068" cy="1023456"/>
          </a:xfrm>
        </p:spPr>
        <p:txBody>
          <a:bodyPr>
            <a:normAutofit fontScale="90000"/>
          </a:bodyPr>
          <a:lstStyle/>
          <a:p>
            <a:br>
              <a:rPr lang="en-US" b="1" i="0" dirty="0">
                <a:solidFill>
                  <a:srgbClr val="242424"/>
                </a:solidFill>
                <a:effectLst/>
                <a:latin typeface="sohne"/>
              </a:rPr>
            </a:br>
            <a:r>
              <a:rPr lang="en-US" sz="2000" b="0" i="0" dirty="0">
                <a:effectLst/>
                <a:latin typeface="Times New Roman" panose="02020603050405020304" pitchFamily="18" charset="0"/>
                <a:cs typeface="Times New Roman" panose="02020603050405020304" pitchFamily="18" charset="0"/>
              </a:rPr>
              <a:t>Step 4: Persisting Data to DynamoDB Our web application needs to store math results. We’ll create a DynamoDB table to persist these results securely</a:t>
            </a:r>
            <a:r>
              <a:rPr lang="en-US" sz="2000" b="0" i="0" dirty="0">
                <a:solidFill>
                  <a:srgbClr val="242424"/>
                </a:solidFill>
                <a:effectLst/>
                <a:latin typeface="source-serif-pro"/>
              </a:rPr>
              <a:t>.</a:t>
            </a:r>
            <a:br>
              <a:rPr lang="en-US" sz="2000" b="1" i="0" dirty="0">
                <a:effectLst/>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DC0CB00C-7464-DECC-66B2-8006B601FA52}"/>
              </a:ext>
            </a:extLst>
          </p:cNvPr>
          <p:cNvPicPr>
            <a:picLocks noGrp="1" noChangeAspect="1"/>
          </p:cNvPicPr>
          <p:nvPr>
            <p:ph idx="1"/>
          </p:nvPr>
        </p:nvPicPr>
        <p:blipFill>
          <a:blip r:embed="rId2"/>
          <a:stretch>
            <a:fillRect/>
          </a:stretch>
        </p:blipFill>
        <p:spPr>
          <a:xfrm>
            <a:off x="99729" y="1627465"/>
            <a:ext cx="6888299" cy="4440237"/>
          </a:xfrm>
        </p:spPr>
      </p:pic>
      <p:sp>
        <p:nvSpPr>
          <p:cNvPr id="9" name="TextBox 8">
            <a:extLst>
              <a:ext uri="{FF2B5EF4-FFF2-40B4-BE49-F238E27FC236}">
                <a16:creationId xmlns:a16="http://schemas.microsoft.com/office/drawing/2014/main" id="{BCC33EB2-F372-F945-755A-3750252A09F6}"/>
              </a:ext>
            </a:extLst>
          </p:cNvPr>
          <p:cNvSpPr txBox="1"/>
          <p:nvPr/>
        </p:nvSpPr>
        <p:spPr>
          <a:xfrm>
            <a:off x="7055141" y="1750335"/>
            <a:ext cx="4907560" cy="4093428"/>
          </a:xfrm>
          <a:prstGeom prst="rect">
            <a:avLst/>
          </a:prstGeom>
          <a:noFill/>
        </p:spPr>
        <p:txBody>
          <a:bodyPr wrap="square" rtlCol="0">
            <a:spAutoFit/>
          </a:bodyPr>
          <a:lstStyle/>
          <a:p>
            <a:pPr algn="l">
              <a:lnSpc>
                <a:spcPts val="2400"/>
              </a:lnSpc>
              <a:buFont typeface="+mj-lt"/>
              <a:buAutoNum type="arabicPeriod"/>
            </a:pPr>
            <a:r>
              <a:rPr lang="en-US" sz="2000" dirty="0">
                <a:latin typeface="Times New Roman" panose="02020603050405020304" pitchFamily="18" charset="0"/>
                <a:cs typeface="Times New Roman" panose="02020603050405020304" pitchFamily="18" charset="0"/>
              </a:rPr>
              <a:t>Create </a:t>
            </a:r>
            <a:r>
              <a:rPr lang="en-US" sz="2000" b="0" i="0" dirty="0">
                <a:effectLst/>
                <a:latin typeface="Times New Roman" panose="02020603050405020304" pitchFamily="18" charset="0"/>
                <a:cs typeface="Times New Roman" panose="02020603050405020304" pitchFamily="18" charset="0"/>
              </a:rPr>
              <a:t>Table name, enter </a:t>
            </a:r>
            <a:r>
              <a:rPr lang="en-US" sz="2000" b="0" i="1" dirty="0" err="1">
                <a:effectLst/>
                <a:latin typeface="Times New Roman" panose="02020603050405020304" pitchFamily="18" charset="0"/>
                <a:cs typeface="Times New Roman" panose="02020603050405020304" pitchFamily="18" charset="0"/>
              </a:rPr>
              <a:t>PowerofMathDatabase</a:t>
            </a:r>
            <a:r>
              <a:rPr lang="en-US" sz="2000" b="0" i="0" dirty="0">
                <a:effectLst/>
                <a:latin typeface="Times New Roman" panose="02020603050405020304" pitchFamily="18" charset="0"/>
                <a:cs typeface="Times New Roman" panose="02020603050405020304" pitchFamily="18" charset="0"/>
              </a:rPr>
              <a:t>.</a:t>
            </a:r>
          </a:p>
          <a:p>
            <a:pPr algn="l">
              <a:lnSpc>
                <a:spcPts val="2400"/>
              </a:lnSpc>
              <a:buFont typeface="+mj-lt"/>
              <a:buAutoNum type="arabicPeriod"/>
            </a:pPr>
            <a:r>
              <a:rPr lang="en-US" sz="2000" b="0" i="0" dirty="0">
                <a:effectLst/>
                <a:latin typeface="Times New Roman" panose="02020603050405020304" pitchFamily="18" charset="0"/>
                <a:cs typeface="Times New Roman" panose="02020603050405020304" pitchFamily="18" charset="0"/>
              </a:rPr>
              <a:t>In the Partition key field, enter </a:t>
            </a:r>
            <a:r>
              <a:rPr lang="en-US" sz="2000" b="0" i="1" dirty="0">
                <a:effectLst/>
                <a:latin typeface="Times New Roman" panose="02020603050405020304" pitchFamily="18" charset="0"/>
                <a:cs typeface="Times New Roman" panose="02020603050405020304" pitchFamily="18" charset="0"/>
              </a:rPr>
              <a:t>ID.</a:t>
            </a:r>
            <a:r>
              <a:rPr lang="en-US" sz="2000" b="0" i="0" dirty="0">
                <a:effectLst/>
                <a:latin typeface="Times New Roman" panose="02020603050405020304" pitchFamily="18" charset="0"/>
                <a:cs typeface="Times New Roman" panose="02020603050405020304" pitchFamily="18" charset="0"/>
              </a:rPr>
              <a:t> The partition key is part of the table’s primary key.</a:t>
            </a:r>
          </a:p>
          <a:p>
            <a:pPr algn="l">
              <a:lnSpc>
                <a:spcPts val="2400"/>
              </a:lnSpc>
              <a:buFont typeface="+mj-lt"/>
              <a:buAutoNum type="arabicPeriod"/>
            </a:pPr>
            <a:r>
              <a:rPr lang="en-US" sz="2000" b="0" i="0" dirty="0">
                <a:effectLst/>
                <a:latin typeface="Times New Roman" panose="02020603050405020304" pitchFamily="18" charset="0"/>
                <a:cs typeface="Times New Roman" panose="02020603050405020304" pitchFamily="18" charset="0"/>
              </a:rPr>
              <a:t>Leave the rest of the default values unchanged and choose the orange Create table button.</a:t>
            </a:r>
          </a:p>
          <a:p>
            <a:pPr algn="l">
              <a:lnSpc>
                <a:spcPts val="2400"/>
              </a:lnSpc>
              <a:buFont typeface="+mj-lt"/>
              <a:buAutoNum type="arabicPeriod"/>
            </a:pPr>
            <a:r>
              <a:rPr lang="en-US" sz="2000" b="0" i="0" dirty="0">
                <a:effectLst/>
                <a:latin typeface="Times New Roman" panose="02020603050405020304" pitchFamily="18" charset="0"/>
                <a:cs typeface="Times New Roman" panose="02020603050405020304" pitchFamily="18" charset="0"/>
              </a:rPr>
              <a:t>In the list of tables, select the table name,</a:t>
            </a:r>
            <a:r>
              <a:rPr lang="en-US" sz="2000" b="0" i="1" dirty="0">
                <a:effectLst/>
                <a:latin typeface="Times New Roman" panose="02020603050405020304" pitchFamily="18" charset="0"/>
                <a:cs typeface="Times New Roman" panose="02020603050405020304" pitchFamily="18" charset="0"/>
              </a:rPr>
              <a:t> </a:t>
            </a:r>
            <a:r>
              <a:rPr lang="en-US" sz="2000" b="0" i="1" dirty="0" err="1">
                <a:effectLst/>
                <a:latin typeface="Times New Roman" panose="02020603050405020304" pitchFamily="18" charset="0"/>
                <a:cs typeface="Times New Roman" panose="02020603050405020304" pitchFamily="18" charset="0"/>
              </a:rPr>
              <a:t>PowerofMathDatabase</a:t>
            </a:r>
            <a:r>
              <a:rPr lang="en-US" sz="2000" b="0" i="1" dirty="0">
                <a:effectLst/>
                <a:latin typeface="Times New Roman" panose="02020603050405020304" pitchFamily="18" charset="0"/>
                <a:cs typeface="Times New Roman" panose="02020603050405020304" pitchFamily="18" charset="0"/>
              </a:rPr>
              <a:t>.</a:t>
            </a:r>
            <a:endParaRPr lang="en-US" sz="2000" b="0" i="0" dirty="0">
              <a:effectLst/>
              <a:latin typeface="Times New Roman" panose="02020603050405020304" pitchFamily="18" charset="0"/>
              <a:cs typeface="Times New Roman" panose="02020603050405020304" pitchFamily="18" charset="0"/>
            </a:endParaRPr>
          </a:p>
          <a:p>
            <a:pPr algn="l">
              <a:lnSpc>
                <a:spcPts val="2400"/>
              </a:lnSpc>
              <a:buFont typeface="+mj-lt"/>
              <a:buAutoNum type="arabicPeriod"/>
            </a:pPr>
            <a:r>
              <a:rPr lang="en-US" sz="2000" b="0" i="0" dirty="0">
                <a:effectLst/>
                <a:latin typeface="Times New Roman" panose="02020603050405020304" pitchFamily="18" charset="0"/>
                <a:cs typeface="Times New Roman" panose="02020603050405020304" pitchFamily="18" charset="0"/>
              </a:rPr>
              <a:t>In the General information section, show Additional info by selecting the down arrow and copy and save the Amazon Resource Name (ARN) in a notepad for later use.</a:t>
            </a:r>
          </a:p>
        </p:txBody>
      </p:sp>
    </p:spTree>
    <p:extLst>
      <p:ext uri="{BB962C8B-B14F-4D97-AF65-F5344CB8AC3E}">
        <p14:creationId xmlns:p14="http://schemas.microsoft.com/office/powerpoint/2010/main" val="1680519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3DBAC-55A6-A8B0-E7E4-2CCBFEE8CCED}"/>
              </a:ext>
            </a:extLst>
          </p:cNvPr>
          <p:cNvSpPr>
            <a:spLocks noGrp="1"/>
          </p:cNvSpPr>
          <p:nvPr>
            <p:ph type="title"/>
          </p:nvPr>
        </p:nvSpPr>
        <p:spPr>
          <a:xfrm>
            <a:off x="685801" y="302004"/>
            <a:ext cx="10131425" cy="956345"/>
          </a:xfrm>
        </p:spPr>
        <p:txBody>
          <a:bodyPr>
            <a:normAutofit/>
          </a:bodyPr>
          <a:lstStyle/>
          <a:p>
            <a:r>
              <a:rPr lang="en-US" sz="2800" b="1" dirty="0">
                <a:latin typeface="Times New Roman" panose="02020603050405020304" pitchFamily="18" charset="0"/>
                <a:cs typeface="Times New Roman" panose="02020603050405020304" pitchFamily="18" charset="0"/>
              </a:rPr>
              <a:t>Step 5: </a:t>
            </a:r>
            <a:r>
              <a:rPr lang="en-US" sz="2800" b="1" i="0" dirty="0">
                <a:effectLst/>
                <a:latin typeface="Times New Roman" panose="02020603050405020304" pitchFamily="18" charset="0"/>
                <a:cs typeface="Times New Roman" panose="02020603050405020304" pitchFamily="18" charset="0"/>
              </a:rPr>
              <a:t>Adding IAM policy to Lambda function:</a:t>
            </a:r>
            <a:endParaRPr lang="en-IN" sz="28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845A499A-D1C9-AD3C-A377-774E1009125E}"/>
              </a:ext>
            </a:extLst>
          </p:cNvPr>
          <p:cNvPicPr>
            <a:picLocks noGrp="1" noChangeAspect="1"/>
          </p:cNvPicPr>
          <p:nvPr>
            <p:ph idx="1"/>
          </p:nvPr>
        </p:nvPicPr>
        <p:blipFill>
          <a:blip r:embed="rId2"/>
          <a:stretch>
            <a:fillRect/>
          </a:stretch>
        </p:blipFill>
        <p:spPr>
          <a:xfrm>
            <a:off x="207962" y="1442907"/>
            <a:ext cx="7207905" cy="4488110"/>
          </a:xfrm>
        </p:spPr>
      </p:pic>
      <p:sp>
        <p:nvSpPr>
          <p:cNvPr id="8" name="TextBox 7">
            <a:extLst>
              <a:ext uri="{FF2B5EF4-FFF2-40B4-BE49-F238E27FC236}">
                <a16:creationId xmlns:a16="http://schemas.microsoft.com/office/drawing/2014/main" id="{2E3C7D0F-DB0F-72CF-82EB-E40B656EB024}"/>
              </a:ext>
            </a:extLst>
          </p:cNvPr>
          <p:cNvSpPr txBox="1"/>
          <p:nvPr/>
        </p:nvSpPr>
        <p:spPr>
          <a:xfrm>
            <a:off x="7415868" y="1442907"/>
            <a:ext cx="4568169" cy="4031873"/>
          </a:xfrm>
          <a:prstGeom prst="rect">
            <a:avLst/>
          </a:prstGeom>
          <a:noFill/>
        </p:spPr>
        <p:txBody>
          <a:bodyPr wrap="square" rtlCol="0">
            <a:spAutoFit/>
          </a:bodyPr>
          <a:lstStyle/>
          <a:p>
            <a:pPr marL="285750" indent="-285750">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Managing Permissions To ensure security and proper functionality, we’ll grant the Lambda function permission to write to the DynamoDB table.</a:t>
            </a:r>
          </a:p>
          <a:p>
            <a:pPr marL="285750" indent="-285750">
              <a:buFont typeface="Arial" panose="020B0604020202020204" pitchFamily="34" charset="0"/>
              <a:buChar char="•"/>
            </a:pPr>
            <a:r>
              <a:rPr lang="en-US" sz="2000" b="0" i="0" dirty="0">
                <a:effectLst/>
                <a:latin typeface="source-serif-pro"/>
              </a:rPr>
              <a:t>Fill Policy name then click “Create policy and click on inline policy and paste your JSON code </a:t>
            </a:r>
          </a:p>
          <a:p>
            <a:pPr marL="285750" indent="-285750">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This policy will allow our Lambda function to read, edit, or delete items, but restrict it to only be able to do so in the table we created</a:t>
            </a:r>
          </a:p>
          <a:p>
            <a:pPr marL="285750" indent="-285750">
              <a:buFont typeface="Arial" panose="020B0604020202020204" pitchFamily="34" charset="0"/>
              <a:buChar char="•"/>
            </a:pPr>
            <a:endParaRPr lang="en-US" b="0" i="0" dirty="0">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8904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76071-914E-9D7E-57D1-4068A003C943}"/>
              </a:ext>
            </a:extLst>
          </p:cNvPr>
          <p:cNvSpPr>
            <a:spLocks noGrp="1"/>
          </p:cNvSpPr>
          <p:nvPr>
            <p:ph type="title"/>
          </p:nvPr>
        </p:nvSpPr>
        <p:spPr>
          <a:xfrm>
            <a:off x="618689" y="592822"/>
            <a:ext cx="10131425" cy="1076587"/>
          </a:xfrm>
        </p:spPr>
        <p:txBody>
          <a:bodyPr>
            <a:normAutofit fontScale="90000"/>
          </a:bodyPr>
          <a:lstStyle/>
          <a:p>
            <a:r>
              <a:rPr lang="en-US" sz="3100" b="1" dirty="0">
                <a:latin typeface="Times New Roman" panose="02020603050405020304" pitchFamily="18" charset="0"/>
                <a:cs typeface="Times New Roman" panose="02020603050405020304" pitchFamily="18" charset="0"/>
              </a:rPr>
              <a:t>step 6  : Modifying the static website to invoke API and display result based on input.</a:t>
            </a:r>
            <a:endParaRPr lang="en-IN" sz="3100" dirty="0"/>
          </a:p>
        </p:txBody>
      </p:sp>
      <p:sp>
        <p:nvSpPr>
          <p:cNvPr id="4" name="TextBox 3">
            <a:extLst>
              <a:ext uri="{FF2B5EF4-FFF2-40B4-BE49-F238E27FC236}">
                <a16:creationId xmlns:a16="http://schemas.microsoft.com/office/drawing/2014/main" id="{766620C8-5ECD-9123-2C49-93923BAA7FA8}"/>
              </a:ext>
            </a:extLst>
          </p:cNvPr>
          <p:cNvSpPr txBox="1"/>
          <p:nvPr/>
        </p:nvSpPr>
        <p:spPr>
          <a:xfrm>
            <a:off x="444617" y="2189527"/>
            <a:ext cx="11327935" cy="430887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a:t>
            </a:r>
            <a:r>
              <a:rPr lang="en-US" sz="2000" b="0" dirty="0">
                <a:effectLst/>
                <a:latin typeface="Times New Roman" panose="02020603050405020304" pitchFamily="18" charset="0"/>
                <a:cs typeface="Times New Roman" panose="02020603050405020304" pitchFamily="18" charset="0"/>
              </a:rPr>
              <a:t>e should update the static website we created in step1 to invoke the REST API we created in step 3. </a:t>
            </a:r>
            <a:r>
              <a:rPr lang="en-US" sz="2000" dirty="0">
                <a:latin typeface="Times New Roman" panose="02020603050405020304" pitchFamily="18" charset="0"/>
                <a:cs typeface="Times New Roman" panose="02020603050405020304" pitchFamily="18" charset="0"/>
              </a:rPr>
              <a:t>t</a:t>
            </a:r>
            <a:r>
              <a:rPr lang="en-US" sz="2000" b="0" dirty="0">
                <a:effectLst/>
                <a:latin typeface="Times New Roman" panose="02020603050405020304" pitchFamily="18" charset="0"/>
                <a:cs typeface="Times New Roman" panose="02020603050405020304" pitchFamily="18" charset="0"/>
              </a:rPr>
              <a:t>his will add the ability to display result based on what you input.</a:t>
            </a:r>
          </a:p>
          <a:p>
            <a:pPr marL="285750" indent="-285750">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Open the </a:t>
            </a:r>
            <a:r>
              <a:rPr lang="en-US" sz="2000" b="0" i="1" dirty="0">
                <a:effectLst/>
                <a:latin typeface="Times New Roman" panose="02020603050405020304" pitchFamily="18" charset="0"/>
                <a:cs typeface="Times New Roman" panose="02020603050405020304" pitchFamily="18" charset="0"/>
              </a:rPr>
              <a:t>index.html</a:t>
            </a:r>
            <a:r>
              <a:rPr lang="en-US" sz="2000" b="0" i="0" dirty="0">
                <a:effectLst/>
                <a:latin typeface="Times New Roman" panose="02020603050405020304" pitchFamily="18" charset="0"/>
                <a:cs typeface="Times New Roman" panose="02020603050405020304" pitchFamily="18" charset="0"/>
              </a:rPr>
              <a:t> file you created in module one.</a:t>
            </a:r>
          </a:p>
          <a:p>
            <a:pPr marL="285750" indent="-285750">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Make sure you add your API Invoke URL in the HTML code .</a:t>
            </a:r>
          </a:p>
          <a:p>
            <a:pPr marL="285750" indent="-285750">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Save the file. </a:t>
            </a:r>
          </a:p>
          <a:p>
            <a:pPr marL="285750" indent="-285750">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ZIP (compress) only the HTML file.</a:t>
            </a:r>
          </a:p>
          <a:p>
            <a:pPr marL="285750" indent="-285750">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 Open the AWS Amplify.</a:t>
            </a:r>
          </a:p>
          <a:p>
            <a:pPr marL="285750" indent="-285750">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 Choose the web app created in step 1.</a:t>
            </a:r>
          </a:p>
          <a:p>
            <a:pPr marL="285750" indent="-285750">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 Choose the white Choose files button.</a:t>
            </a:r>
          </a:p>
          <a:p>
            <a:pPr marL="285750" indent="-285750">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When the file is uploaded, a deployment process will automatically begin. Once you see a green bar, your deployment will be complete.</a:t>
            </a:r>
          </a:p>
          <a:p>
            <a:pPr marL="285750" indent="-285750">
              <a:buFont typeface="Arial" panose="020B0604020202020204" pitchFamily="34" charset="0"/>
              <a:buChar char="•"/>
            </a:pPr>
            <a:endParaRPr lang="en-US" b="0" i="0" dirty="0">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0" i="0" dirty="0">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2281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1E1A5-ED71-2797-8DFE-FC84CED6A081}"/>
              </a:ext>
            </a:extLst>
          </p:cNvPr>
          <p:cNvSpPr>
            <a:spLocks noGrp="1"/>
          </p:cNvSpPr>
          <p:nvPr>
            <p:ph type="title"/>
          </p:nvPr>
        </p:nvSpPr>
        <p:spPr>
          <a:xfrm>
            <a:off x="610300" y="425454"/>
            <a:ext cx="10131425" cy="673916"/>
          </a:xfrm>
        </p:spPr>
        <p:txBody>
          <a:bodyPr/>
          <a:lstStyle/>
          <a:p>
            <a:r>
              <a:rPr lang="en-US" b="1" i="0" dirty="0">
                <a:effectLst/>
                <a:latin typeface="Times New Roman" panose="02020603050405020304" pitchFamily="18" charset="0"/>
                <a:cs typeface="Times New Roman" panose="02020603050405020304" pitchFamily="18" charset="0"/>
              </a:rPr>
              <a:t>Testing the Updated web app (</a:t>
            </a:r>
            <a:r>
              <a:rPr lang="en-US" b="1" dirty="0"/>
              <a:t>Output)</a:t>
            </a:r>
            <a:r>
              <a:rPr lang="en-US" dirty="0"/>
              <a:t> :</a:t>
            </a:r>
            <a:endParaRPr lang="en-IN" dirty="0"/>
          </a:p>
        </p:txBody>
      </p:sp>
      <p:pic>
        <p:nvPicPr>
          <p:cNvPr id="5" name="Content Placeholder 4">
            <a:extLst>
              <a:ext uri="{FF2B5EF4-FFF2-40B4-BE49-F238E27FC236}">
                <a16:creationId xmlns:a16="http://schemas.microsoft.com/office/drawing/2014/main" id="{E5305119-69A1-282B-B2D1-9855DE9A1A16}"/>
              </a:ext>
            </a:extLst>
          </p:cNvPr>
          <p:cNvPicPr>
            <a:picLocks noGrp="1" noChangeAspect="1"/>
          </p:cNvPicPr>
          <p:nvPr>
            <p:ph idx="1"/>
          </p:nvPr>
        </p:nvPicPr>
        <p:blipFill>
          <a:blip r:embed="rId2"/>
          <a:stretch>
            <a:fillRect/>
          </a:stretch>
        </p:blipFill>
        <p:spPr>
          <a:xfrm>
            <a:off x="151002" y="1283517"/>
            <a:ext cx="8003098" cy="2374083"/>
          </a:xfrm>
        </p:spPr>
      </p:pic>
      <p:pic>
        <p:nvPicPr>
          <p:cNvPr id="9" name="Picture 8">
            <a:extLst>
              <a:ext uri="{FF2B5EF4-FFF2-40B4-BE49-F238E27FC236}">
                <a16:creationId xmlns:a16="http://schemas.microsoft.com/office/drawing/2014/main" id="{0C75B266-8EA7-AB89-8880-C17F195DAEDE}"/>
              </a:ext>
            </a:extLst>
          </p:cNvPr>
          <p:cNvPicPr>
            <a:picLocks noChangeAspect="1"/>
          </p:cNvPicPr>
          <p:nvPr/>
        </p:nvPicPr>
        <p:blipFill>
          <a:blip r:embed="rId3"/>
          <a:stretch>
            <a:fillRect/>
          </a:stretch>
        </p:blipFill>
        <p:spPr>
          <a:xfrm>
            <a:off x="151002" y="3841747"/>
            <a:ext cx="8003098" cy="2819112"/>
          </a:xfrm>
          <a:prstGeom prst="rect">
            <a:avLst/>
          </a:prstGeom>
        </p:spPr>
      </p:pic>
      <p:sp>
        <p:nvSpPr>
          <p:cNvPr id="10" name="TextBox 9">
            <a:extLst>
              <a:ext uri="{FF2B5EF4-FFF2-40B4-BE49-F238E27FC236}">
                <a16:creationId xmlns:a16="http://schemas.microsoft.com/office/drawing/2014/main" id="{1F9FCB3C-19E7-DBC8-EBCA-654B78E88AD3}"/>
              </a:ext>
            </a:extLst>
          </p:cNvPr>
          <p:cNvSpPr txBox="1"/>
          <p:nvPr/>
        </p:nvSpPr>
        <p:spPr>
          <a:xfrm>
            <a:off x="8338657" y="1375794"/>
            <a:ext cx="3598877" cy="4075924"/>
          </a:xfrm>
          <a:prstGeom prst="rect">
            <a:avLst/>
          </a:prstGeom>
          <a:noFill/>
        </p:spPr>
        <p:txBody>
          <a:bodyPr wrap="square" rtlCol="0">
            <a:spAutoFit/>
          </a:bodyPr>
          <a:lstStyle/>
          <a:p>
            <a:pPr marL="285750" indent="-285750" algn="l">
              <a:lnSpc>
                <a:spcPts val="24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Finally, click on the URL in the domain and a page will open in the browser.</a:t>
            </a:r>
          </a:p>
          <a:p>
            <a:pPr marL="285750" indent="-285750" algn="l">
              <a:lnSpc>
                <a:spcPts val="24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Give the values of any two number in the specified boxes (i.e. base number ,to the power of) and press calculate to see the result in the browser.</a:t>
            </a:r>
          </a:p>
          <a:p>
            <a:pPr marL="285750" indent="-285750" algn="l">
              <a:lnSpc>
                <a:spcPts val="2400"/>
              </a:lnSpc>
              <a:buFont typeface="Arial" panose="020B0604020202020204" pitchFamily="34" charset="0"/>
              <a:buChar char="•"/>
            </a:pPr>
            <a:r>
              <a:rPr lang="en-US" b="0" dirty="0" err="1">
                <a:effectLst/>
                <a:latin typeface="Times New Roman" panose="02020603050405020304" pitchFamily="18" charset="0"/>
                <a:cs typeface="Times New Roman" panose="02020603050405020304" pitchFamily="18" charset="0"/>
              </a:rPr>
              <a:t>Yaay</a:t>
            </a:r>
            <a:r>
              <a:rPr lang="en-US" b="0" dirty="0">
                <a:effectLst/>
                <a:latin typeface="Times New Roman" panose="02020603050405020304" pitchFamily="18" charset="0"/>
                <a:cs typeface="Times New Roman" panose="02020603050405020304" pitchFamily="18" charset="0"/>
              </a:rPr>
              <a:t>!!Congratulations! Now we have a working web app deployed by Amplify console that can call a Lambda function via API Gateway.</a:t>
            </a:r>
          </a:p>
        </p:txBody>
      </p:sp>
    </p:spTree>
    <p:extLst>
      <p:ext uri="{BB962C8B-B14F-4D97-AF65-F5344CB8AC3E}">
        <p14:creationId xmlns:p14="http://schemas.microsoft.com/office/powerpoint/2010/main" val="1344091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AA824-9976-5A07-B1C1-BDA3F70BEE69}"/>
              </a:ext>
            </a:extLst>
          </p:cNvPr>
          <p:cNvSpPr>
            <a:spLocks noGrp="1"/>
          </p:cNvSpPr>
          <p:nvPr>
            <p:ph type="title"/>
          </p:nvPr>
        </p:nvSpPr>
        <p:spPr>
          <a:xfrm>
            <a:off x="685801" y="609601"/>
            <a:ext cx="10131425" cy="883640"/>
          </a:xfrm>
        </p:spPr>
        <p:txBody>
          <a:bodyPr>
            <a:normAutofit fontScale="90000"/>
          </a:bodyPr>
          <a:lstStyle/>
          <a:p>
            <a:br>
              <a:rPr lang="en-US"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To confirm, you can check  database(dynamo </a:t>
            </a:r>
            <a:r>
              <a:rPr lang="en-US" sz="3100" b="0" i="0" dirty="0" err="1">
                <a:effectLst/>
                <a:latin typeface="Times New Roman" panose="02020603050405020304" pitchFamily="18" charset="0"/>
                <a:cs typeface="Times New Roman" panose="02020603050405020304" pitchFamily="18" charset="0"/>
              </a:rPr>
              <a:t>db</a:t>
            </a:r>
            <a:r>
              <a:rPr lang="en-US" sz="3100" b="0" i="0" dirty="0">
                <a:effectLst/>
                <a:latin typeface="Times New Roman" panose="02020603050405020304" pitchFamily="18" charset="0"/>
                <a:cs typeface="Times New Roman" panose="02020603050405020304" pitchFamily="18" charset="0"/>
              </a:rPr>
              <a:t>):</a:t>
            </a:r>
            <a:br>
              <a:rPr lang="en-US" sz="3100" b="0" i="0" dirty="0">
                <a:solidFill>
                  <a:srgbClr val="242424"/>
                </a:solidFill>
                <a:effectLst/>
                <a:latin typeface="source-serif-pro"/>
              </a:rPr>
            </a:br>
            <a:endParaRPr lang="en-IN" sz="3100" dirty="0"/>
          </a:p>
        </p:txBody>
      </p:sp>
      <p:pic>
        <p:nvPicPr>
          <p:cNvPr id="5" name="Content Placeholder 4">
            <a:extLst>
              <a:ext uri="{FF2B5EF4-FFF2-40B4-BE49-F238E27FC236}">
                <a16:creationId xmlns:a16="http://schemas.microsoft.com/office/drawing/2014/main" id="{983A650A-1036-1C48-B161-F1B4A3FC7027}"/>
              </a:ext>
            </a:extLst>
          </p:cNvPr>
          <p:cNvPicPr>
            <a:picLocks noGrp="1" noChangeAspect="1"/>
          </p:cNvPicPr>
          <p:nvPr>
            <p:ph idx="1"/>
          </p:nvPr>
        </p:nvPicPr>
        <p:blipFill>
          <a:blip r:embed="rId2"/>
          <a:stretch>
            <a:fillRect/>
          </a:stretch>
        </p:blipFill>
        <p:spPr>
          <a:xfrm>
            <a:off x="780176" y="1846524"/>
            <a:ext cx="8640770" cy="4401875"/>
          </a:xfrm>
        </p:spPr>
      </p:pic>
    </p:spTree>
    <p:extLst>
      <p:ext uri="{BB962C8B-B14F-4D97-AF65-F5344CB8AC3E}">
        <p14:creationId xmlns:p14="http://schemas.microsoft.com/office/powerpoint/2010/main" val="3102098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3C4377-96D0-518E-408B-584073E16EAC}"/>
              </a:ext>
            </a:extLst>
          </p:cNvPr>
          <p:cNvPicPr>
            <a:picLocks noChangeAspect="1"/>
          </p:cNvPicPr>
          <p:nvPr/>
        </p:nvPicPr>
        <p:blipFill>
          <a:blip r:embed="rId2"/>
          <a:stretch>
            <a:fillRect/>
          </a:stretch>
        </p:blipFill>
        <p:spPr>
          <a:xfrm>
            <a:off x="1" y="0"/>
            <a:ext cx="12080146" cy="6858000"/>
          </a:xfrm>
          <a:prstGeom prst="rect">
            <a:avLst/>
          </a:prstGeom>
        </p:spPr>
      </p:pic>
    </p:spTree>
    <p:extLst>
      <p:ext uri="{BB962C8B-B14F-4D97-AF65-F5344CB8AC3E}">
        <p14:creationId xmlns:p14="http://schemas.microsoft.com/office/powerpoint/2010/main" val="13639500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165</TotalTime>
  <Words>979</Words>
  <Application>Microsoft Office PowerPoint</Application>
  <PresentationFormat>Widescreen</PresentationFormat>
  <Paragraphs>60</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Roboto</vt:lpstr>
      <vt:lpstr>sohne</vt:lpstr>
      <vt:lpstr>source-serif-pro</vt:lpstr>
      <vt:lpstr>Times New Roman</vt:lpstr>
      <vt:lpstr>Celestial</vt:lpstr>
      <vt:lpstr>Build an End-to-End AWS Web Application -Power OF MATH using aws services </vt:lpstr>
      <vt:lpstr>PowerPoint Presentation</vt:lpstr>
      <vt:lpstr>Things we will accomplish: </vt:lpstr>
      <vt:lpstr>Application architecture:  </vt:lpstr>
      <vt:lpstr>step 1 : Setting up AWS Amplify to host and deploy a static website. </vt:lpstr>
      <vt:lpstr>step 2 : Creating and configuring Lambda function </vt:lpstr>
      <vt:lpstr> step 3 : Deploying serverless function using Amazon API Gateway </vt:lpstr>
      <vt:lpstr> Step 4: Persisting Data to DynamoDB Our web application needs to store math results. We’ll create a DynamoDB table to persist these results securely. </vt:lpstr>
      <vt:lpstr>Step 5: Adding IAM policy to Lambda function:</vt:lpstr>
      <vt:lpstr>step 6  : Modifying the static website to invoke API and display result based on input.</vt:lpstr>
      <vt:lpstr>Testing the Updated web app (Output) :</vt:lpstr>
      <vt:lpstr> To confirm, you can check  database(dynamo db):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thomasking068@gmail.com</dc:creator>
  <cp:lastModifiedBy>Mithun George</cp:lastModifiedBy>
  <cp:revision>7</cp:revision>
  <dcterms:created xsi:type="dcterms:W3CDTF">2025-03-28T03:16:38Z</dcterms:created>
  <dcterms:modified xsi:type="dcterms:W3CDTF">2025-05-03T03:13:23Z</dcterms:modified>
</cp:coreProperties>
</file>